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214" y="1603474"/>
            <a:ext cx="231942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330543" y="2441674"/>
            <a:ext cx="24827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= Human-in-the-Loop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0" y="2933700"/>
            <a:ext cx="1524000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97939" y="3225701"/>
            <a:ext cx="31479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人与 AI 协作的下一代工作平台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的价值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279327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= Human-in-the-Loop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22227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的核心理念：人始终在回路中。AI 不是替代者，而是 Co-Pilot —— 人与 AI 各取所长，协同完成专业任务。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1047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707" y="2146548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460278"/>
            <a:ext cx="2608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作为 Co-Pilot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739628"/>
            <a:ext cx="260800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辅助生成，人类审核决策。让专业人员专注于判断，AI 承担繁重工作。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7218" y="21047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17974" y="2146548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7218" y="2460278"/>
            <a:ext cx="260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融入真实工作流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17218" y="2739628"/>
            <a:ext cx="260815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不是聊天窗口，而是将 AI 嵌入备课、讲题等实际业务场景，产出可用数据。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6634" y="210472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27390" y="2146548"/>
            <a:ext cx="792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26634" y="2460278"/>
            <a:ext cx="260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6634" y="2739628"/>
            <a:ext cx="260815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输出结构化数据，一键同步到业务系统，无需二次录入。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0370" y="3348930"/>
            <a:ext cx="998339" cy="482501"/>
          </a:xfrm>
          <a:prstGeom prst="roundRect">
            <a:avLst>
              <a:gd name="adj" fmla="val 2105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03558" y="3475881"/>
            <a:ext cx="551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80209" y="3456831"/>
            <a:ext cx="193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71020" y="3348930"/>
            <a:ext cx="1117550" cy="482501"/>
          </a:xfrm>
          <a:prstGeom prst="roundRect">
            <a:avLst>
              <a:gd name="adj" fmla="val 2105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93016" y="3475881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人类审核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90071" y="3456831"/>
            <a:ext cx="193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80881" y="3348930"/>
            <a:ext cx="1282601" cy="482501"/>
          </a:xfrm>
          <a:prstGeom prst="roundRect">
            <a:avLst>
              <a:gd name="adj" fmla="val 2105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01227" y="3475881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同步到系统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46870" y="923627"/>
            <a:ext cx="1250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(即插即用)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95574" y="1161752"/>
            <a:ext cx="1949351" cy="571202"/>
          </a:xfrm>
          <a:prstGeom prst="roundRect">
            <a:avLst>
              <a:gd name="adj" fmla="val 13340"/>
            </a:avLst>
          </a:prstGeom>
          <a:solidFill>
            <a:srgbClr val="F4F6F6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93009" y="1272778"/>
            <a:ext cx="1554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备课方案设计器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3009" y="1479054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 / 备课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97325" y="1161752"/>
            <a:ext cx="1949351" cy="571202"/>
          </a:xfrm>
          <a:prstGeom prst="roundRect">
            <a:avLst>
              <a:gd name="adj" fmla="val 13340"/>
            </a:avLst>
          </a:prstGeom>
          <a:solidFill>
            <a:srgbClr val="F4F6F6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94760" y="1272778"/>
            <a:ext cx="1554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讲题助手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94760" y="1479054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 / 辅导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99075" y="1161752"/>
            <a:ext cx="1949351" cy="571202"/>
          </a:xfrm>
          <a:prstGeom prst="roundRect">
            <a:avLst>
              <a:gd name="adj" fmla="val 13340"/>
            </a:avLst>
          </a:prstGeom>
          <a:solidFill>
            <a:srgbClr val="F4F6F6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96511" y="127277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6511" y="1440954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任意 HITL 场景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52451" y="1834455"/>
            <a:ext cx="639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▲ 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8200" y="2120205"/>
            <a:ext cx="7467600" cy="1034653"/>
          </a:xfrm>
          <a:prstGeom prst="roundRect">
            <a:avLst>
              <a:gd name="adj" fmla="val 1227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74420" y="2297906"/>
            <a:ext cx="69951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Platform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1816" y="2650331"/>
            <a:ext cx="711101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18766" y="2713732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79116" y="2650331"/>
            <a:ext cx="723900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06067" y="2713732"/>
            <a:ext cx="4793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路由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9216" y="2650331"/>
            <a:ext cx="1020366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06167" y="2713732"/>
            <a:ext cx="781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75782" y="2650331"/>
            <a:ext cx="825401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02732" y="2713732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7383" y="2650331"/>
            <a:ext cx="596801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04333" y="2713732"/>
            <a:ext cx="3497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多租户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50384" y="2650331"/>
            <a:ext cx="596801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77334" y="2713732"/>
            <a:ext cx="3497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3384" y="2650331"/>
            <a:ext cx="825401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50335" y="2713732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消息持久化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24985" y="2650331"/>
            <a:ext cx="927199" cy="288727"/>
          </a:xfrm>
          <a:prstGeom prst="roundRect">
            <a:avLst>
              <a:gd name="adj" fmla="val 1759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51936" y="2713732"/>
            <a:ext cx="6867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5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认证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2283" y="3256359"/>
            <a:ext cx="1794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939528" y="3542109"/>
            <a:ext cx="1641425" cy="501551"/>
          </a:xfrm>
          <a:prstGeom prst="roundRect">
            <a:avLst>
              <a:gd name="adj" fmla="val 1519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04369" y="3618309"/>
            <a:ext cx="1311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Agent Engine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4369" y="3786485"/>
            <a:ext cx="1311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推理引擎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33354" y="3542109"/>
            <a:ext cx="1185565" cy="501551"/>
          </a:xfrm>
          <a:prstGeom prst="roundRect">
            <a:avLst>
              <a:gd name="adj" fmla="val 1519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902753" y="3618309"/>
            <a:ext cx="8467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02753" y="3786485"/>
            <a:ext cx="8467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工具扩展标准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71318" y="3542109"/>
            <a:ext cx="990302" cy="501551"/>
          </a:xfrm>
          <a:prstGeom prst="roundRect">
            <a:avLst>
              <a:gd name="adj" fmla="val 1519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42670" y="3618309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实时通信层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42670" y="382458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双向事件流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14021" y="3542109"/>
            <a:ext cx="990302" cy="501551"/>
          </a:xfrm>
          <a:prstGeom prst="roundRect">
            <a:avLst>
              <a:gd name="adj" fmla="val 1519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85372" y="3618309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持久化存储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85372" y="382458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会话与消息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59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核心能力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0601" y="872877"/>
            <a:ext cx="3987998" cy="77331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4413" y="872877"/>
            <a:ext cx="0" cy="773311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927" y="987177"/>
            <a:ext cx="36566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一句话变结构化方案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927" y="1234827"/>
            <a:ext cx="36566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用户说"帮我设计教学目标"，AI 直接产出结构化数据填入业务表单 —— 不是给你一段文字让你自己抄。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5401" y="872877"/>
            <a:ext cx="3987998" cy="77331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9213" y="872877"/>
            <a:ext cx="0" cy="77331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0727" y="987177"/>
            <a:ext cx="36566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产出直接对接业务系统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0727" y="1234827"/>
            <a:ext cx="36566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write_output 输出的是结构化数据，不是自然语言。可直接写入数据库、表单、API，无需人工转录。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0601" y="1722388"/>
            <a:ext cx="3987998" cy="77331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4413" y="1722388"/>
            <a:ext cx="0" cy="773311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927" y="1836688"/>
            <a:ext cx="36566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即插即用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927" y="2084338"/>
            <a:ext cx="36566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写一个 SKILL.md + MCP Server 就能扩展新场景。不需要改平台代码，新 Solution 开箱即用。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5401" y="1722388"/>
            <a:ext cx="3987998" cy="773311"/>
          </a:xfrm>
          <a:prstGeom prst="rect">
            <a:avLst/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9213" y="1722388"/>
            <a:ext cx="0" cy="773311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0727" y="1836688"/>
            <a:ext cx="36566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链式编排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0727" y="2084338"/>
            <a:ext cx="36566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一条指令触发多 Skill 协作：备课分析 → NotebookLM 生成音频 → PPT 生成课件，全流程自动化。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22649"/>
            <a:ext cx="8229600" cy="383977"/>
          </a:xfrm>
          <a:prstGeom prst="roundRect">
            <a:avLst>
              <a:gd name="adj" fmla="val 19845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6159" y="2724150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提供完整的 HITL 基础设施 —— 新解决方案只需定义 Skill 和 MCP 工具，即可获得以上全部能力。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1427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1: 备课方案设计器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682526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Plan Designer - AI 辅助备课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6301" y="1317427"/>
            <a:ext cx="3555950" cy="26405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辅助备课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，基于崔允漷教授课程与教学论理论框架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教学目标设计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：Bloom 认知层级分类，自动对齐课程标准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教学活动编排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：导入、讲授、练习、总结等多种活动类型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教材版本支持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：人教版 / 北师大版 / 苏教版，章节级精确选择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全套材料生成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：一键生成讲解音频（NotebookLM）和 PPT 课件</a:t>
            </a:r>
            <a:endParaRPr lang="en-US" sz="1200" dirty="0"/>
          </a:p>
        </p:txBody>
      </p:sp>
      <p:pic>
        <p:nvPicPr>
          <p:cNvPr id="6" name="Image 0" descr="/private/tmp/claude/-Users-niex-Documents-GitHub-kedge-ccaas/d3da0586-d302-481a-bdff-b383a790dd0e/scratchpad/pptx-slides/lesson-plan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451" y="2002780"/>
            <a:ext cx="4356050" cy="2252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备课方案设计器 - 工作流程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71970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5363" y="1784747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3352" y="1719709"/>
            <a:ext cx="290174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选择教材章节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，输入备课需求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2751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5363" y="2292548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352" y="2227511"/>
            <a:ext cx="290174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分析教材内容，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生成结构化教案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73531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5363" y="280035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3352" y="2735312"/>
            <a:ext cx="290174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黄色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"同步到表单"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按钮出现在消息中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24311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363" y="3308152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3352" y="3243114"/>
            <a:ext cx="290174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确认后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，数据自动填入左侧表单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375091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5363" y="381595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3352" y="3750915"/>
            <a:ext cx="290174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可继续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迭代优化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，或生成音频 / PPT</a:t>
            </a:r>
            <a:endParaRPr lang="en-US" sz="1200" dirty="0"/>
          </a:p>
        </p:txBody>
      </p:sp>
      <p:pic>
        <p:nvPicPr>
          <p:cNvPr id="19" name="Image 0" descr="/private/tmp/claude/-Users-niex-Documents-GitHub-kedge-ccaas/d3da0586-d302-481a-bdff-b383a790dd0e/scratchpad/pptx-slides/lesson-plan-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401" y="1797993"/>
            <a:ext cx="4610100" cy="2382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备课方案设计器 - AI 同步结果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876871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生成内容无缝同步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6301" y="2270522"/>
            <a:ext cx="31089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用户确认同步后，AI 生成的结构化数据直接填入业务表单，与现有系统无缝对接。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6301" y="2814042"/>
            <a:ext cx="3048000" cy="617041"/>
          </a:xfrm>
          <a:prstGeom prst="roundRect">
            <a:avLst>
              <a:gd name="adj" fmla="val 1234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2940993"/>
            <a:ext cx="274645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修改标记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：被 AI 修改的字段显示特殊标识，清晰区分人工填写与 AI 生成的内容。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3558034"/>
            <a:ext cx="31089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教案数据可直接用于教学管理系统，无需二次录入。</a:t>
            </a:r>
            <a:endParaRPr lang="en-US" sz="1100" dirty="0"/>
          </a:p>
        </p:txBody>
      </p:sp>
      <p:pic>
        <p:nvPicPr>
          <p:cNvPr id="9" name="Image 0" descr="/private/tmp/claude/-Users-niex-Documents-GitHub-kedge-ccaas/d3da0586-d302-481a-bdff-b383a790dd0e/scratchpad/pptx-slides/lesson-plan-sync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00" y="1732955"/>
            <a:ext cx="4864001" cy="2512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14276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2: 讲题助手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682526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Explainer - AI 驱动的智能讲题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6301" y="1317427"/>
            <a:ext cx="3555950" cy="178742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智能讲题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，完整的分析 - 讲解 - 输出工作流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图片识别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：支持拍照 / 截图上传，Claude 视觉能力自动识别题目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分步讲解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：逐步分析解题思路，每步有理有据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知识关联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：关联知识点，变式练习促进迁移</a:t>
            </a:r>
            <a:endParaRPr lang="en-US" sz="1200" dirty="0"/>
          </a:p>
          <a:p>
            <a:pPr algn="l" marL="101600" indent="-1016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全学科覆盖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：语文 / 数学 / 英语 / 物理 / 化学等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3231803"/>
            <a:ext cx="787301" cy="263426"/>
          </a:xfrm>
          <a:prstGeom prst="roundRect">
            <a:avLst>
              <a:gd name="adj" fmla="val 1928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802" y="3282553"/>
            <a:ext cx="595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分析题目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44352" y="3231803"/>
            <a:ext cx="787301" cy="263426"/>
          </a:xfrm>
          <a:prstGeom prst="roundRect">
            <a:avLst>
              <a:gd name="adj" fmla="val 1928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45853" y="3282553"/>
            <a:ext cx="595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生成讲稿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2403" y="3231803"/>
            <a:ext cx="787301" cy="263426"/>
          </a:xfrm>
          <a:prstGeom prst="roundRect">
            <a:avLst>
              <a:gd name="adj" fmla="val 1928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83904" y="3282553"/>
            <a:ext cx="595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生成音频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0454" y="3231803"/>
            <a:ext cx="781050" cy="263426"/>
          </a:xfrm>
          <a:prstGeom prst="roundRect">
            <a:avLst>
              <a:gd name="adj" fmla="val 1928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21955" y="3282553"/>
            <a:ext cx="589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生成PPT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301" y="3545979"/>
            <a:ext cx="787301" cy="263426"/>
          </a:xfrm>
          <a:prstGeom prst="roundRect">
            <a:avLst>
              <a:gd name="adj" fmla="val 19284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802" y="3596729"/>
            <a:ext cx="5959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输出文件</a:t>
            </a:r>
            <a:endParaRPr lang="en-US" sz="900" dirty="0"/>
          </a:p>
        </p:txBody>
      </p:sp>
      <p:pic>
        <p:nvPicPr>
          <p:cNvPr id="16" name="Image 0" descr="/private/tmp/claude/-Users-niex-Documents-GitHub-kedge-ccaas/d3da0586-d302-481a-bdff-b383a790dd0e/scratchpad/pptx-slides/problem-explainer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451" y="2002780"/>
            <a:ext cx="4356050" cy="22520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讲题助手 - 完整产出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506587"/>
            <a:ext cx="495300" cy="495300"/>
          </a:xfrm>
          <a:prstGeom prst="roundRect">
            <a:avLst>
              <a:gd name="adj" fmla="val 20513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568" y="1649462"/>
            <a:ext cx="1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4001" y="1506587"/>
            <a:ext cx="27072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分步讲解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4001" y="1773287"/>
            <a:ext cx="27072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逐步分析解题思路，识别知识点，计算难度等级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2376488"/>
            <a:ext cx="495300" cy="495300"/>
          </a:xfrm>
          <a:prstGeom prst="roundRect">
            <a:avLst>
              <a:gd name="adj" fmla="val 20513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568" y="2519363"/>
            <a:ext cx="1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4001" y="2376488"/>
            <a:ext cx="2563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知识关联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4001" y="2643188"/>
            <a:ext cx="2563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建立知识网络，关联课程标准和核心概念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3074938"/>
            <a:ext cx="495300" cy="495300"/>
          </a:xfrm>
          <a:prstGeom prst="roundRect">
            <a:avLst>
              <a:gd name="adj" fmla="val 20513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568" y="3217813"/>
            <a:ext cx="1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4001" y="3074938"/>
            <a:ext cx="27062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变式练习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4001" y="3341638"/>
            <a:ext cx="2706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提供同类型题目，促进知识迁移和举一反三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301" y="3773388"/>
            <a:ext cx="495300" cy="495300"/>
          </a:xfrm>
          <a:prstGeom prst="roundRect">
            <a:avLst>
              <a:gd name="adj" fmla="val 20513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9629" y="3916263"/>
            <a:ext cx="1108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4001" y="3773388"/>
            <a:ext cx="2627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全套材料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4001" y="4040088"/>
            <a:ext cx="26277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讲稿.md + 音频.mp3 + PPT.pptx 一键下载</a:t>
            </a:r>
            <a:endParaRPr lang="en-US" sz="1100" dirty="0"/>
          </a:p>
        </p:txBody>
      </p:sp>
      <p:pic>
        <p:nvPicPr>
          <p:cNvPr id="20" name="Image 0" descr="/private/tmp/claude/-Users-niex-Documents-GitHub-kedge-ccaas/d3da0586-d302-481a-bdff-b383a790dd0e/scratchpad/pptx-slides/problem-explainer-notebook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401" y="1797993"/>
            <a:ext cx="4610100" cy="2382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讲题助手 - AI 生成课件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883866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自动生成 PPT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6301" y="2277517"/>
            <a:ext cx="31089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分析讲稿内容后，通过 NotebookLM Skill 自动生成专业讲题课件。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6301" y="2821037"/>
            <a:ext cx="3048000" cy="798612"/>
          </a:xfrm>
          <a:prstGeom prst="roundRect">
            <a:avLst>
              <a:gd name="adj" fmla="val 954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002" y="2947988"/>
            <a:ext cx="274645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链式调用</a:t>
            </a:r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：讲题分析 → 讲稿生成 → NotebookLM 音频 → PPT 课件，全流程自动化。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01" y="3746599"/>
            <a:ext cx="310896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生成的课件可直接用于课堂教学或在线辅导。</a:t>
            </a:r>
            <a:endParaRPr lang="en-US" sz="1100" dirty="0"/>
          </a:p>
        </p:txBody>
      </p:sp>
      <p:pic>
        <p:nvPicPr>
          <p:cNvPr id="9" name="Image 0" descr="/private/tmp/claude/-Users-niex-Documents-GitHub-kedge-ccaas/d3da0586-d302-481a-bdff-b383a790dd0e/scratchpad/pptx-slides/problem-explainer-sli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00" y="1613892"/>
            <a:ext cx="4864001" cy="27504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9532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 LoopAI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89198" y="847576"/>
            <a:ext cx="4032052" cy="957560"/>
          </a:xfrm>
          <a:prstGeom prst="roundRect">
            <a:avLst>
              <a:gd name="adj" fmla="val 7958"/>
            </a:avLst>
          </a:prstGeom>
          <a:solidFill>
            <a:srgbClr val="FFFFFF"/>
          </a:solidFill>
          <a:ln w="9525">
            <a:solidFill>
              <a:srgbClr val="E5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424" y="971401"/>
            <a:ext cx="637580" cy="172492"/>
          </a:xfrm>
          <a:prstGeom prst="roundRect">
            <a:avLst>
              <a:gd name="adj" fmla="val 2208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2624" y="996702"/>
            <a:ext cx="494883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CO-PILOT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424" y="1194643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人与 AI 各取所长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424" y="1419969"/>
            <a:ext cx="373075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承担生成和分析，人类负责审核和决策。不是替代，是让每个人都有一个专业助手。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22750" y="847576"/>
            <a:ext cx="4032052" cy="957560"/>
          </a:xfrm>
          <a:prstGeom prst="roundRect">
            <a:avLst>
              <a:gd name="adj" fmla="val 7958"/>
            </a:avLst>
          </a:prstGeom>
          <a:solidFill>
            <a:srgbClr val="FFFFFF"/>
          </a:solidFill>
          <a:ln w="9525">
            <a:solidFill>
              <a:srgbClr val="E5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9976" y="971401"/>
            <a:ext cx="1297484" cy="172492"/>
          </a:xfrm>
          <a:prstGeom prst="roundRect">
            <a:avLst>
              <a:gd name="adj" fmla="val 2208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6176" y="996702"/>
            <a:ext cx="116798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9976" y="1194643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产出即数据，不是文字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9976" y="1419969"/>
            <a:ext cx="373075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输出直接变成系统可用的结构化数据，跳过"复制粘贴"环节，与现有业务系统无缝集成。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198" y="1906637"/>
            <a:ext cx="4032052" cy="957560"/>
          </a:xfrm>
          <a:prstGeom prst="roundRect">
            <a:avLst>
              <a:gd name="adj" fmla="val 7958"/>
            </a:avLst>
          </a:prstGeom>
          <a:solidFill>
            <a:srgbClr val="FFFFFF"/>
          </a:solidFill>
          <a:ln w="9525">
            <a:solidFill>
              <a:srgbClr val="E5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6424" y="2030462"/>
            <a:ext cx="789980" cy="172492"/>
          </a:xfrm>
          <a:prstGeom prst="roundRect">
            <a:avLst>
              <a:gd name="adj" fmla="val 2208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2624" y="2055763"/>
            <a:ext cx="650331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6424" y="2253704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新场景零代码扩展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424" y="2479030"/>
            <a:ext cx="373075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 SKILL.md 描述领域知识 + MCP Server 提供工具，平台自动完成路由、校验、同步。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2750" y="1906637"/>
            <a:ext cx="4032052" cy="957560"/>
          </a:xfrm>
          <a:prstGeom prst="roundRect">
            <a:avLst>
              <a:gd name="adj" fmla="val 7958"/>
            </a:avLst>
          </a:prstGeom>
          <a:solidFill>
            <a:srgbClr val="FFFFFF"/>
          </a:solidFill>
          <a:ln w="9525">
            <a:solidFill>
              <a:srgbClr val="E5E8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9976" y="2030462"/>
            <a:ext cx="788045" cy="172492"/>
          </a:xfrm>
          <a:prstGeom prst="roundRect">
            <a:avLst>
              <a:gd name="adj" fmla="val 22088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6176" y="2055763"/>
            <a:ext cx="64835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9976" y="2253704"/>
            <a:ext cx="3730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一条指令，全套产出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976" y="2479030"/>
            <a:ext cx="373075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链式编排实现端到端自动化：分析 → 文档 → 音频 → PPT，一次对话完成完整工作流。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50208" y="1738313"/>
            <a:ext cx="12435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4050" y="2798713"/>
            <a:ext cx="1015901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08328" y="3090714"/>
            <a:ext cx="4327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LoopAI - 人与 AI 协作，共同完成专业任务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LoopAI 智能教育平台</dc:title>
  <dc:subject>PptxGenJS Presentation</dc:subject>
  <dc:creator>LoopAI</dc:creator>
  <cp:lastModifiedBy>LoopAI</cp:lastModifiedBy>
  <cp:revision>1</cp:revision>
  <dcterms:created xsi:type="dcterms:W3CDTF">2026-01-27T16:23:57Z</dcterms:created>
  <dcterms:modified xsi:type="dcterms:W3CDTF">2026-01-27T16:23:57Z</dcterms:modified>
</cp:coreProperties>
</file>